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41148" cy="685800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3291840" cy="32918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57200" y="1234440"/>
            <a:ext cx="4389120" cy="4389120"/>
          </a:xfrm>
          <a:prstGeom prst="ellipse">
            <a:avLst/>
          </a:prstGeom>
          <a:solidFill>
            <a:srgbClr val="0B0B0B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3474720" cy="3474720"/>
          </a:xfrm>
          <a:prstGeom prst="ellipse">
            <a:avLst/>
          </a:prstGeom>
          <a:solidFill>
            <a:srgbClr val="0B0B0B"/>
          </a:solidFill>
          <a:ln w="381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148840"/>
            <a:ext cx="2560320" cy="2560320"/>
          </a:xfrm>
          <a:prstGeom prst="ellipse">
            <a:avLst/>
          </a:prstGeom>
          <a:solidFill>
            <a:srgbClr val="0B0B0B"/>
          </a:solidFill>
          <a:ln w="508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D4933"/>
                </a:solidFill>
                <a:latin typeface="Calibri"/>
              </a:rPr>
              <a:t>AURA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555"/>
                </a:solidFill>
                <a:latin typeface="Calibri"/>
              </a:rPr>
              <a:t>A  U  T  O  M  A  T  E  D    U  R  B  A  N  I  Z  E 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589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555"/>
                </a:solidFill>
                <a:latin typeface="Calibri"/>
              </a:rPr>
              <a:t>R  E  P  R  E  S  E  N  T  A  T  I  O  N    O  F    A  N  A  L  Y  S  I 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3716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4933"/>
                </a:solidFill>
                <a:latin typeface="Calibri"/>
              </a:rPr>
              <a:t>MISSION BRIEFING  |  ISS ECLSS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664208"/>
            <a:ext cx="128016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719072"/>
            <a:ext cx="6217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Predictive
Maintenance
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005072"/>
            <a:ext cx="6126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C8470"/>
                </a:solidFill>
                <a:latin typeface="Calibri"/>
              </a:rPr>
              <a:t>Real-time anomaly detection, fault classification, failure prediction, and autonomous remediation for the International Space Station Environmental Control &amp; Life Support Systems.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5120640"/>
            <a:ext cx="1463040" cy="237744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51206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A372"/>
                </a:solidFill>
                <a:latin typeface="Calibri"/>
              </a:rPr>
              <a:t>7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1152" y="5120640"/>
            <a:ext cx="1463040" cy="237744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51206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A372"/>
                </a:solidFill>
                <a:latin typeface="Calibri"/>
              </a:rPr>
              <a:t>20 SENSORS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3024" y="5120640"/>
            <a:ext cx="1463040" cy="237744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51206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A372"/>
                </a:solidFill>
                <a:latin typeface="Calibri"/>
              </a:rPr>
              <a:t>4 ML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54896" y="5120640"/>
            <a:ext cx="1463040" cy="237744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4896" y="51206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A372"/>
                </a:solidFill>
                <a:latin typeface="Calibri"/>
              </a:rPr>
              <a:t>8 FAULTS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16768" y="5120640"/>
            <a:ext cx="1463040" cy="237744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16768" y="51206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A372"/>
                </a:solidFill>
                <a:latin typeface="Calibri"/>
              </a:rPr>
              <a:t>REAL-TIME AI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MISSION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AURA?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Environmental Control &amp; Life Support  |  International Space Station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2697480" cy="320040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269748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1856232"/>
            <a:ext cx="347472" cy="347472"/>
          </a:xfrm>
          <a:prstGeom prst="ellipse">
            <a:avLst/>
          </a:prstGeom>
          <a:solidFill>
            <a:srgbClr val="201E11"/>
          </a:solidFill>
          <a:ln w="12700">
            <a:solidFill>
              <a:srgbClr val="ABA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56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C87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837944"/>
            <a:ext cx="1947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58568"/>
            <a:ext cx="2377440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A production-grade digital twin and predictive maintenance system for the ISS ECLSS — the interconnected systems that keep astronauts breathing, hydrated, and alive.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1691640"/>
            <a:ext cx="2697480" cy="320040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691640"/>
            <a:ext cx="269748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38728" y="1856232"/>
            <a:ext cx="347472" cy="347472"/>
          </a:xfrm>
          <a:prstGeom prst="ellipse">
            <a:avLst/>
          </a:prstGeom>
          <a:solidFill>
            <a:srgbClr val="201E11"/>
          </a:solidFill>
          <a:ln w="12700">
            <a:solidFill>
              <a:srgbClr val="ABA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856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C87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6" y="1837944"/>
            <a:ext cx="1947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INTELLIGENCE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8728" y="2258568"/>
            <a:ext cx="2377440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37744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Four-layer ML pipeline: anomaly detection, fault classification, failure prediction, and autonomous remediation recommendations via Deep Q-Network reinforcement learning.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1691640"/>
            <a:ext cx="2697480" cy="320040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4496" y="1691640"/>
            <a:ext cx="269748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1856232"/>
            <a:ext cx="347472" cy="347472"/>
          </a:xfrm>
          <a:prstGeom prst="ellipse">
            <a:avLst/>
          </a:prstGeom>
          <a:solidFill>
            <a:srgbClr val="201E11"/>
          </a:solidFill>
          <a:ln w="12700">
            <a:solidFill>
              <a:srgbClr val="ABA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856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C87A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837944"/>
            <a:ext cx="1947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REAL-TIME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7376" y="2258568"/>
            <a:ext cx="2377440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37744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7 sensor readings per second across 7 ISS modules. WebSocket live push to every connected client. Alert debounce and latch logic. Sub-second anomaly detection.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53144" y="1691640"/>
            <a:ext cx="2697480" cy="320040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53144" y="1691640"/>
            <a:ext cx="269748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36024" y="1856232"/>
            <a:ext cx="347472" cy="347472"/>
          </a:xfrm>
          <a:prstGeom prst="ellipse">
            <a:avLst/>
          </a:prstGeom>
          <a:solidFill>
            <a:srgbClr val="201E11"/>
          </a:solidFill>
          <a:ln w="12700">
            <a:solidFill>
              <a:srgbClr val="ABA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1856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C87A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1837944"/>
            <a:ext cx="1947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EARLY WARNING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36024" y="2258568"/>
            <a:ext cx="2377440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6024" y="237744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2 to 72 hour fault precursor detection window. LSTM-predicted Remaining Useful Life estimate. DQN agent selects from 11 corrective maintenance actions.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2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4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6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Full-Stack Space Operations Platform  |  FastAPI + SQLite + PyTorch + Vanilla 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645920"/>
            <a:ext cx="2084831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45920"/>
            <a:ext cx="2084831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48255" y="1719072"/>
            <a:ext cx="274320" cy="274320"/>
          </a:xfrm>
          <a:prstGeom prst="ellipse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5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C87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1773936"/>
            <a:ext cx="1581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A372"/>
                </a:solidFill>
                <a:latin typeface="Calibri"/>
              </a:rPr>
              <a:t>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148840"/>
            <a:ext cx="1810511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2423160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04288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Vanilla 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2935224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2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Three.js  3D Twin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447288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28416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Chart.js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3959352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WebSocket client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71416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52544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8 views / tabs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5104" y="3241548"/>
            <a:ext cx="1024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19" y="1645920"/>
            <a:ext cx="2084831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19" y="1645920"/>
            <a:ext cx="2084831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61102" y="1719072"/>
            <a:ext cx="274320" cy="274320"/>
          </a:xfrm>
          <a:prstGeom prst="ellipse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2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C87A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1" y="1773936"/>
            <a:ext cx="1581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A372"/>
                </a:solidFill>
                <a:latin typeface="Calibri"/>
              </a:rPr>
              <a:t>FASTAPI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24911" y="2148840"/>
            <a:ext cx="1810511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24911" y="2423160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2927" y="2304288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~40 REST routes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24911" y="2935224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2927" y="2816352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WebSocket /ws/live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24911" y="3447288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52927" y="3328416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Uvicorn ASGI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24911" y="3959352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52927" y="3840480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JWT auth + bcrypt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24911" y="4471416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2927" y="4352544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Pydantic v2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7951" y="3241548"/>
            <a:ext cx="1024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73166" y="1645920"/>
            <a:ext cx="2084831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73166" y="1645920"/>
            <a:ext cx="2084831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73949" y="1719072"/>
            <a:ext cx="274320" cy="274320"/>
          </a:xfrm>
          <a:prstGeom prst="ellipse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49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C87A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58" y="1773936"/>
            <a:ext cx="1581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A372"/>
                </a:solidFill>
                <a:latin typeface="Calibri"/>
              </a:rPr>
              <a:t>SQLITE WAL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58" y="2148840"/>
            <a:ext cx="1810511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37758" y="2423160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65774" y="2304288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5 tables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58" y="2935224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65774" y="2816352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7 locations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58" y="3447288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65774" y="3328416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JSON columns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58" y="3959352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65774" y="3840480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~25 k rows / hour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58" y="4471416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65774" y="4352544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Auto-purge API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0798" y="3241548"/>
            <a:ext cx="1024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86013" y="1645920"/>
            <a:ext cx="2084831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86013" y="1645920"/>
            <a:ext cx="2084831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686796" y="1719072"/>
            <a:ext cx="274320" cy="274320"/>
          </a:xfrm>
          <a:prstGeom prst="ellipse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796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C87A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0605" y="1773936"/>
            <a:ext cx="1581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A372"/>
                </a:solidFill>
                <a:latin typeface="Calibri"/>
              </a:rPr>
              <a:t>ML ENGINE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50605" y="2148840"/>
            <a:ext cx="1810511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50605" y="2423160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8621" y="2304288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Isolation Forest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50605" y="2935224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78621" y="2816352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Random Forest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50605" y="3447288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78621" y="3328416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LSTM predictor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50605" y="3959352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78621" y="3840480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DQN RL agent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50605" y="4471416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78621" y="4352544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joblib models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83645" y="3241548"/>
            <a:ext cx="1024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98860" y="1645920"/>
            <a:ext cx="2084831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98860" y="1645920"/>
            <a:ext cx="2084831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899643" y="1719072"/>
            <a:ext cx="274320" cy="274320"/>
          </a:xfrm>
          <a:prstGeom prst="ellipse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99643" y="17190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C87A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63452" y="1773936"/>
            <a:ext cx="1581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A372"/>
                </a:solidFill>
                <a:latin typeface="Calibri"/>
              </a:rPr>
              <a:t>AI ANALYST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63452" y="2148840"/>
            <a:ext cx="1810511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63452" y="2423160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91468" y="2304288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Ollama  local LLM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63452" y="2935224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91468" y="2816352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mistral  /  llama3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63452" y="3447288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91468" y="3328416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Groq API fallback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63452" y="3959352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91468" y="3840480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Chat interface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63452" y="4471416"/>
            <a:ext cx="54864" cy="54864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91468" y="4352544"/>
            <a:ext cx="167335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470"/>
                </a:solidFill>
                <a:latin typeface="Calibri"/>
              </a:rPr>
              <a:t>Context-aware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6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6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7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7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Four-Layer Autonomous Diagnostic System  |  scikit-learn + PyTorch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645920"/>
            <a:ext cx="2724912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45920"/>
            <a:ext cx="2724912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438912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222014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177393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D4933"/>
                </a:solidFill>
                <a:latin typeface="Calibri"/>
              </a:rPr>
              <a:t>ANOMALY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039112"/>
            <a:ext cx="2450592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10312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651760"/>
            <a:ext cx="245059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Unsupervised anomaly detection on 20-dimensional sensor vectors. Flags readings as normal (+1) or anomalous (-1) without any labeled training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070" y="3223260"/>
            <a:ext cx="15636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645920"/>
            <a:ext cx="2724912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645920"/>
            <a:ext cx="2724912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438912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222014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177393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D4933"/>
                </a:solidFill>
                <a:latin typeface="Calibri"/>
              </a:rPr>
              <a:t>FAULT 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0712" y="2039112"/>
            <a:ext cx="2450592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210312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2651760"/>
            <a:ext cx="245059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8-class fault classifier with probability estimates. RF gate at 0.85 confidence triggers CRITICAL alert. Latch threshold 0.95 confirms fault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9718" y="3223260"/>
            <a:ext cx="15636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45920"/>
            <a:ext cx="2724912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45920"/>
            <a:ext cx="2724912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38912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222014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77393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D4933"/>
                </a:solidFill>
                <a:latin typeface="Calibri"/>
              </a:rPr>
              <a:t>FAILURE PREDICTION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039112"/>
            <a:ext cx="2450592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10312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LSTM Predictor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51760"/>
            <a:ext cx="245059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3-layer LSTM with 128 hidden units on a 60-tick sliding window. Dual-head output: failure probability + Remaining Useful Life estimate in hours.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8366" y="3223260"/>
            <a:ext cx="15636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6" y="1645920"/>
            <a:ext cx="2724912" cy="3520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6" y="1645920"/>
            <a:ext cx="2724912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99648" y="438912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222014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177393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D4933"/>
                </a:solidFill>
                <a:latin typeface="Calibri"/>
              </a:rPr>
              <a:t>REMEDIATION  (RL AGENT)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08008" y="2039112"/>
            <a:ext cx="2450592" cy="137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8" y="210312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Deep Q-Network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2651760"/>
            <a:ext cx="245059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State space: 32 dims (20 sensors + 8 fault probs + 4 scalars). 11 corrective actions. RF-bypass when RF confidence &gt;= 0.92.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6555"/>
                </a:solidFill>
                <a:latin typeface="Calibri"/>
              </a:rPr>
              <a:t>IF result gates RF input  |  RF probabilities feed LSTM  |  DQN bypassed when RF confidence &gt;= 0.92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DATA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SQLite WAL Mode  |  5 Tables  |  Concurrent Reads  |  JSON Columns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" y="1911095"/>
            <a:ext cx="2834640" cy="987552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28346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2834640" cy="36576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929383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faults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40279"/>
            <a:ext cx="2834640" cy="310896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95143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7A"/>
                </a:solidFill>
                <a:latin typeface="Calibri"/>
              </a:rPr>
              <a:t>  PK 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51175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551175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551175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39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fault_name  UNIQUE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3739896"/>
            <a:ext cx="2834640" cy="129844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03320"/>
            <a:ext cx="2834640" cy="12984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03320"/>
            <a:ext cx="2834640" cy="36576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75818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locations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69080"/>
            <a:ext cx="2834640" cy="310896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2394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7A"/>
                </a:solidFill>
                <a:latin typeface="Calibri"/>
              </a:rPr>
              <a:t>  PK  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379976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379976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379976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34840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location_name  UNIQUE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690872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690872"/>
            <a:ext cx="2834640" cy="310896"/>
          </a:xfrm>
          <a:prstGeom prst="rect">
            <a:avLst/>
          </a:prstGeom>
          <a:solidFill>
            <a:srgbClr val="12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690872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4573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BA372"/>
                </a:solidFill>
                <a:latin typeface="Calibri"/>
              </a:rPr>
              <a:t>  FK  current_fault_id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31336" y="1911095"/>
            <a:ext cx="2834640" cy="1609344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94760" y="1874519"/>
            <a:ext cx="2834640" cy="1609344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1874519"/>
            <a:ext cx="2834640" cy="36576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22776" y="1929383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generated_data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94760" y="2240279"/>
            <a:ext cx="2834640" cy="310896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2295143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7A"/>
                </a:solidFill>
                <a:latin typeface="Calibri"/>
              </a:rPr>
              <a:t>  PK  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2551175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94760" y="2551175"/>
            <a:ext cx="2834640" cy="310896"/>
          </a:xfrm>
          <a:prstGeom prst="rect">
            <a:avLst/>
          </a:prstGeom>
          <a:solidFill>
            <a:srgbClr val="12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2551175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2606039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BA372"/>
                </a:solidFill>
                <a:latin typeface="Calibri"/>
              </a:rPr>
              <a:t>  FK  location_id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94760" y="2862071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94760" y="2862071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2862071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6200" y="2916935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data  JSON  [20 params]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94760" y="3172967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94760" y="3172967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94760" y="3172967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86200" y="3227831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timestamp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31336" y="4334256"/>
            <a:ext cx="2834640" cy="129844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94760" y="4297680"/>
            <a:ext cx="2834640" cy="12984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94760" y="4297680"/>
            <a:ext cx="2834640" cy="36576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22776" y="435254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anomaly_labels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94760" y="4663440"/>
            <a:ext cx="2834640" cy="310896"/>
          </a:xfrm>
          <a:prstGeom prst="rect">
            <a:avLst/>
          </a:prstGeom>
          <a:solidFill>
            <a:srgbClr val="12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86200" y="471830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BA372"/>
                </a:solidFill>
                <a:latin typeface="Calibri"/>
              </a:rPr>
              <a:t>  FK  data_row_id  UNIQUE FK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4974336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94760" y="4974336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794760" y="4974336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86200" y="5029200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isolation_forest_label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94760" y="5285232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794760" y="5285232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94760" y="5285232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86200" y="534009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rf_classification  JSON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17536" y="1911095"/>
            <a:ext cx="2834640" cy="192024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80960" y="1874519"/>
            <a:ext cx="2834640" cy="19202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80960" y="1874519"/>
            <a:ext cx="2834640" cy="36576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08976" y="1929383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2240279"/>
            <a:ext cx="2834640" cy="310896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0" y="2295143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7A"/>
                </a:solidFill>
                <a:latin typeface="Calibri"/>
              </a:rPr>
              <a:t>  PK  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2551175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680960" y="2551175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680960" y="2551175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0" y="2606039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location_name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0" y="2862071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80960" y="2862071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680960" y="2862071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0" y="2916935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severity  /  fault_type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0" y="3172967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80960" y="3172967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80960" y="3172967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72400" y="3227831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top_probability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0" y="3483863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80960" y="3483863"/>
            <a:ext cx="2834640" cy="31089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0" y="3483863"/>
            <a:ext cx="2834640" cy="109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72400" y="3538727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        acknowledged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0" y="2862071"/>
            <a:ext cx="12801" cy="841249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46120" y="4535424"/>
            <a:ext cx="54864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212080" y="3483863"/>
            <a:ext cx="12801" cy="81381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29400" y="2862071"/>
            <a:ext cx="105156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01952" y="331927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555"/>
                </a:solidFill>
                <a:latin typeface="Calibri"/>
              </a:rPr>
              <a:t>1:N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4473244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555"/>
                </a:solidFill>
                <a:latin typeface="Calibri"/>
              </a:rPr>
              <a:t>1:N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85232" y="3758183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555"/>
                </a:solidFill>
                <a:latin typeface="Calibri"/>
              </a:rPr>
              <a:t>1:1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6555"/>
                </a:solidFill>
                <a:latin typeface="Calibri"/>
              </a:rPr>
              <a:t>WAL mode  |  JSON columns for sensor blobs &amp; RF probabilities  |  Alerts table denormalized to survive data purges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5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6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6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9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9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BUILT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Production-Grade  |  Open Source  |  Battle-Tested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691640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91640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1764792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7647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18013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FastAPI  0.115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258568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Async REST API
~40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5264" y="1691640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55264" y="1691640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9472" y="1764792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17647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18013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SQLite  WAL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9856" y="2258568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Concurrent reads
~25 k rows / hour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1691640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1691640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27264" y="1764792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4" y="17647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8013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PyTorch  2.4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7648" y="2258568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LSTM + DQN
Neural networks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70848" y="1691640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70848" y="1691640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35056" y="1764792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35056" y="17647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18013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scikit-learn  1.5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2258568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Isolation Forest
Random Forest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3319272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" y="3319272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11680" y="3392424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33924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Three.js  0.160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" y="3886200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" y="40050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3D Digital Twin
ISS model render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55264" y="3319272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55264" y="3319272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19472" y="3392424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19472" y="33924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FRONTEND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9856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Chart.js  4.4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19856" y="3886200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9856" y="40050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Time-series graphs
Sensor drilldown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3319272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63056" y="3319272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27264" y="3392424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27264" y="33924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Ollama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3886200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40050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Local LLM inference
mistral  /  llama3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70848" y="3319272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70848" y="3319272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35056" y="3392424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35056" y="33924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Groq API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35440" y="3886200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35440" y="40050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Cloud AI fallback
High-speed inference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4946904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7472" y="4946904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11680" y="5020056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11680" y="5020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SECURITY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" y="5056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" y="5513832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064" y="56327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Token auth
Password hashing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55264" y="4946904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55264" y="4946904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19472" y="5020056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19472" y="5020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REAL-TIME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19856" y="5056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WebSocket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19856" y="5513832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19856" y="56327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Live alerts
/ws/live endpoint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63056" y="4946904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63056" y="4946904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27264" y="5020056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27264" y="5020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TESTING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5056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pytest + httpx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7648" y="5513832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56327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API testing
Integration suite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70848" y="4946904"/>
            <a:ext cx="2743200" cy="14630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70848" y="4946904"/>
            <a:ext cx="27432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735056" y="5020056"/>
            <a:ext cx="1005840" cy="201168"/>
          </a:xfrm>
          <a:prstGeom prst="rect">
            <a:avLst/>
          </a:prstGeom>
          <a:solidFill>
            <a:srgbClr val="20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735056" y="5020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D4933"/>
                </a:solidFill>
                <a:latin typeface="Calibri"/>
              </a:rPr>
              <a:t>VALIDATION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35440" y="5056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Pydantic  v2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5513832"/>
            <a:ext cx="24688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35440" y="5632704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C8470"/>
                </a:solidFill>
                <a:latin typeface="Calibri"/>
              </a:rPr>
              <a:t>Data validation
Schema models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6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6" presetID="10" presetClass="entr" presetSubtype="0" fill="hold" grpId="8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/>
                                              <p:tgtEl>
                                                <p:spTgt spid="6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600"/>
                                              <p:tgtEl>
                                                <p:spTgt spid="6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grpId="9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/>
                                              <p:tgtEl>
                                                <p:spTgt spid="7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600"/>
                                              <p:tgtEl>
                                                <p:spTgt spid="7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6" presetID="10" presetClass="entr" presetSubtype="0" fill="hold" grpId="1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7" dur="1" fill="hold"/>
                                              <p:tgtEl>
                                                <p:spTgt spid="8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8" dur="600"/>
                                              <p:tgtEl>
                                                <p:spTgt spid="8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grpId="1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/>
                                              <p:tgtEl>
                                                <p:spTgt spid="8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600"/>
                                              <p:tgtEl>
                                                <p:spTgt spid="8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MONITORED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7 ISS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Real-Time Health Monitoring  |  All Stations  |  1 Reading / Second /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3977639"/>
            <a:ext cx="9235440" cy="4114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4251959"/>
            <a:ext cx="9235440" cy="1645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691640"/>
            <a:ext cx="19202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" y="1691640"/>
            <a:ext cx="1920240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29968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78308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JLP &amp; JPM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Japanese Exp. Module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2679192"/>
            <a:ext cx="12801" cy="129844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2821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1691640"/>
            <a:ext cx="19202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48840" y="1691640"/>
            <a:ext cx="1920240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31336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76856" y="178308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Node 1  —  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6856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Connecting 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679192"/>
            <a:ext cx="12801" cy="129844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4553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1691640"/>
            <a:ext cx="19202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691640"/>
            <a:ext cx="1920240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43016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88536" y="178308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Node 2  —  Harmony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Docking 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679192"/>
            <a:ext cx="12801" cy="129844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6577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1691640"/>
            <a:ext cx="1920240" cy="987552"/>
          </a:xfrm>
          <a:prstGeom prst="rect">
            <a:avLst/>
          </a:prstGeom>
          <a:solidFill>
            <a:srgbClr val="201E11"/>
          </a:solidFill>
          <a:ln w="19050">
            <a:solidFill>
              <a:srgbClr val="ABA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1691640"/>
            <a:ext cx="1920240" cy="36576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71816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17336" y="178308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C87A"/>
                </a:solidFill>
                <a:latin typeface="Calibri"/>
              </a:rPr>
              <a:t>US Lab  —  Destiny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7336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Core Hub  |  Primary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2679192"/>
            <a:ext cx="12801" cy="129844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9457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1691640"/>
            <a:ext cx="19202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09560" y="1691640"/>
            <a:ext cx="1920240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92056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7576" y="178308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Cupola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Observation &amp; Robotics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2679192"/>
            <a:ext cx="12801" cy="129844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6053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55480" y="1691640"/>
            <a:ext cx="19202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5480" y="1691640"/>
            <a:ext cx="1920240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237976" y="17830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83496" y="178308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Columbus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3496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ESA Research Module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679192"/>
            <a:ext cx="12801" cy="1298447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6073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4937760"/>
            <a:ext cx="1920240" cy="987552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89320" y="4937760"/>
            <a:ext cx="1920240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671816" y="502920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17336" y="50292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Joint Airlock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17336" y="54315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Quest  |  EVA Ops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3977639"/>
            <a:ext cx="12801" cy="96012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94576" y="3922775"/>
            <a:ext cx="109728" cy="109728"/>
          </a:xfrm>
          <a:prstGeom prst="ellipse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555"/>
                </a:solidFill>
                <a:latin typeface="Calibri"/>
              </a:rPr>
              <a:t>ALL STATIONS  NOMINAL  —  7 / 7 Online  |  20 Parameters Active  |  ML Pipeline Running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5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6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6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SENSING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20 Sensor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NASA-STD-3001 Calibrated  |  SMAC Limits  |  JSC-20584 Reference  |  Correlated Noise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" y="1719072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" y="1719072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10512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O2 Partial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240279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kPa   |   Atmosphere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2344" y="1719072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2344" y="1719072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1810512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CO2 Partial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240279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mmHg   |   Atmosphere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1496" y="1719072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1496" y="1719072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1810512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Humidity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2240279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% RH   |   Atmosphere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0648" y="1719072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0648" y="1719072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1810512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O2 Output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2240279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kg/day   |   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719072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1719072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7816" y="1810512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O2 Purity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2240279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%   |   OGS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" y="2651760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" y="2651760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2743200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Water Purity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" y="3172967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pH/ppm   |   WPA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52344" y="2651760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52344" y="2651760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2743200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Water Production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3172967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L/day   |   WPA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11496" y="2651760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11496" y="2651760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9512" y="2743200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9512" y="3172967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deg C   |   Thermal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0648" y="2651760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70648" y="2651760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98664" y="2743200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Ammonia  NH3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98664" y="3172967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ppm   |   Contaminant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2651760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29800" y="2651760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57816" y="2743200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Hydrogen  H2 %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7816" y="3172967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% LEL   |   Contaminant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" y="3584448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3192" y="3584448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3675888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Carbon Monoxide  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" y="4105655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ppm   |   Contaminant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52344" y="3584448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52344" y="3584448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3675888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Hydrogen  H2 ppm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4105655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ppm   |   Contaminant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11496" y="3584448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11496" y="3584448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9512" y="3675888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 Pressure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4105655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psia   |   Pressure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0648" y="3584448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70648" y="3584448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98664" y="3675888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Airflow Rate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98664" y="4105655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m/s   |   Atmosphere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29800" y="3584448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29800" y="3584448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57816" y="3675888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Bacterial 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57816" y="4105655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CFU/m3   |   Biological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3192" y="4517136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3192" y="4517136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4608576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Nitrogen  N2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5038343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kPa   |   Gases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52344" y="4517136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52344" y="4517136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80360" y="4608576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Oxygen  O2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5038343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kPa   |   Gases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11496" y="4517136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11496" y="4517136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39512" y="4608576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Carbon Dioxide  CO2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39512" y="5038343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kPa   |   Gases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70648" y="4517136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70648" y="4517136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98664" y="4608576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Methane  CH4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98664" y="5038343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ppm   |   Contaminant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29800" y="4517136"/>
            <a:ext cx="2249424" cy="8412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829800" y="4517136"/>
            <a:ext cx="2249424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57816" y="4608576"/>
            <a:ext cx="2084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Water Vapor  H2O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57816" y="5038343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555"/>
                </a:solidFill>
                <a:latin typeface="Calibri"/>
              </a:rPr>
              <a:t>Pa   |   Atmosphere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6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2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8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6" presetID="10" presetClass="entr" presetSubtype="0" fill="hold" grpId="8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/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6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4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grpId="9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/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60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6" presetID="10" presetClass="entr" presetSubtype="0" fill="hold" grpId="1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7" dur="1" fill="hold"/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8" dur="60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6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grpId="1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/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600"/>
                                              <p:tgtEl>
                                                <p:spTgt spid="5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2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6" presetID="10" presetClass="entr" presetSubtype="0" fill="hold" grpId="1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/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600"/>
                                              <p:tgtEl>
                                                <p:spTgt spid="5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80"/>
                            </p:stCondLst>
                            <p:childTnLst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grpId="1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/>
                                              <p:tgtEl>
                                                <p:spTgt spid="6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600"/>
                                              <p:tgtEl>
                                                <p:spTgt spid="6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40"/>
                            </p:stCondLst>
                            <p:childTnLst>
                              <p:par>
                                <p:cTn id="7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6" presetID="10" presetClass="entr" presetSubtype="0" fill="hold" grpId="1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7" dur="1" fill="hold"/>
                                              <p:tgtEl>
                                                <p:spTgt spid="6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8" dur="600"/>
                                              <p:tgtEl>
                                                <p:spTgt spid="6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grpId="1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/>
                                              <p:tgtEl>
                                                <p:spTgt spid="7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600"/>
                                              <p:tgtEl>
                                                <p:spTgt spid="7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60"/>
                            </p:stCondLst>
                            <p:childTnLst>
                              <p:par>
                                <p:cTn id="8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6" presetID="10" presetClass="entr" presetSubtype="0" fill="hold" grpId="1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7" dur="1" fill="hold"/>
                                              <p:tgtEl>
                                                <p:spTgt spid="7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8" dur="600"/>
                                              <p:tgtEl>
                                                <p:spTgt spid="7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20"/>
                            </p:stCondLst>
                            <p:childTnLst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grpId="1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/>
                                              <p:tgtEl>
                                                <p:spTgt spid="7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600"/>
                                              <p:tgtEl>
                                                <p:spTgt spid="7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80"/>
                            </p:stCondLst>
                            <p:childTnLst>
                              <p:par>
                                <p:cTn id="9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6" presetID="10" presetClass="entr" presetSubtype="0" fill="hold" grpId="18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/>
                                              <p:tgtEl>
                                                <p:spTgt spid="8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8" dur="600"/>
                                              <p:tgtEl>
                                                <p:spTgt spid="8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40"/>
                            </p:stCondLst>
                            <p:childTnLst>
                              <p:par>
                                <p:cTn id="10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1" presetID="10" presetClass="entr" presetSubtype="0" fill="hold" grpId="19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/>
                                              <p:tgtEl>
                                                <p:spTgt spid="8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600"/>
                                              <p:tgtEl>
                                                <p:spTgt spid="8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FAULT 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8 Fault Classifications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2 to 72 Hour Precursor Detection Window  |  Random Forest 8-Class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69164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91640"/>
            <a:ext cx="2724912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01168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Cabin Leak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51460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56946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4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825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Pressure  |  N2  |  O2 kPa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11810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Emergency pressure equalization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4408" y="169164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64408" y="1691640"/>
            <a:ext cx="2724912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78308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01168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O2 Generator 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51460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56946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6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825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O2 Output Rate  |  O2 Purity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11810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Switch to backup O2 supply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169164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1691640"/>
            <a:ext cx="2724912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178308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01168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O2 Leak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5936" y="251460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256946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2 hours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2825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O2 pP  |  Total Pressure  |  O2 kPa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11810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Locate and isolate leak; supplement from storage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169164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691640"/>
            <a:ext cx="2724912" cy="43891"/>
          </a:xfrm>
          <a:prstGeom prst="rect">
            <a:avLst/>
          </a:prstGeom>
          <a:solidFill>
            <a:srgbClr val="C6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2872" y="178308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201168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CO2 Scrubber Failure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62872" y="251460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256946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8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2872" y="2825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CO2 Partial Pressure  |  CO2 kPa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11810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Switch CDRA to backup bed; increase airflow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388620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" y="3886200"/>
            <a:ext cx="2724912" cy="43891"/>
          </a:xfrm>
          <a:prstGeom prst="rect">
            <a:avLst/>
          </a:prstGeom>
          <a:solidFill>
            <a:srgbClr val="C6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" y="397764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" y="420624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CHX Failure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" y="470916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476402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12 hours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502005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Temperature  |  Humidity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531266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Reduce crew activity; route through backup loop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64408" y="388620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64408" y="3886200"/>
            <a:ext cx="2724912" cy="43891"/>
          </a:xfrm>
          <a:prstGeom prst="rect">
            <a:avLst/>
          </a:prstGeom>
          <a:solidFill>
            <a:srgbClr val="C6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397764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420624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Water Processor Failure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470916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476402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24 hours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502005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Water Purity  |  Production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9000" y="531266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Switch to emergency water; inspect iodine bed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1344" y="388620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81344" y="3886200"/>
            <a:ext cx="2724912" cy="43891"/>
          </a:xfrm>
          <a:prstGeom prst="rect">
            <a:avLst/>
          </a:prstGeom>
          <a:solidFill>
            <a:srgbClr val="C6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397764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5936" y="420624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Trace Contaminant Filter Sat.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45936" y="470916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476402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72 hours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5936" y="502005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CO  |  CH4  |  Bacterial Count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45936" y="531266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Replace TCCS charcoal filter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280" y="3886200"/>
            <a:ext cx="2724912" cy="202996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98280" y="3886200"/>
            <a:ext cx="2724912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62872" y="397764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D4933"/>
                </a:solidFill>
                <a:latin typeface="Calibri"/>
              </a:rPr>
              <a:t>FAULT 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62872" y="4206240"/>
            <a:ext cx="2496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NH3 Coolant Leak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62872" y="4709160"/>
            <a:ext cx="2450592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62872" y="4764024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372"/>
                </a:solidFill>
                <a:latin typeface="Calibri"/>
              </a:rPr>
              <a:t>Precursor Window:  3 hours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62872" y="502005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C8470"/>
                </a:solidFill>
                <a:latin typeface="Calibri"/>
              </a:rPr>
              <a:t>Sensors:  NH3 ppm  |  Temperature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62872" y="5312664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6555"/>
                </a:solidFill>
                <a:latin typeface="Calibri"/>
              </a:rPr>
              <a:t>Action:  Don emergency breathing apparatus; isolate ETCS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5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6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6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BY THE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System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Operational Metrics  |  Design Parameters  |  ML Specifications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6916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916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647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597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5146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ISS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8072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All monitored simultaneously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5" y="16916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5" y="16916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5" y="17647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5" y="24597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25146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Sensor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28072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NASA-STD-3001 calibrated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8" y="16916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58" y="16916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8" y="17647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38" y="24597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8" y="25146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Fault Classifications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8072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2 to 72 hour early warning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2918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32918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3649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0599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1148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ML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4074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IF  |  RF  |  LSTM  |  DQN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5" y="32918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42815" y="32918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5" y="33649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5695" y="40599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5" y="41148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DQN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5" y="44074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Autonomous remediation choices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2918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8" y="32918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8" y="33649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~40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38" y="40599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8" y="41148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REST Endpoints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38" y="44074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Full CRUD + ML + AI routes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48920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" y="48920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4965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25 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" y="56601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57150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Rows / Hour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0076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Real-time sensor data pipeline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42815" y="48920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42815" y="48920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5695" y="4965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60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25695" y="56601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25695" y="57150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LSTM Tick Window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25695" y="60076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128 hidden units  |  3 layers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58" y="48920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58" y="48920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38" y="4965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C87A"/>
                </a:solidFill>
                <a:latin typeface="Calibri"/>
              </a:rPr>
              <a:t>3,104 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38" y="5660136"/>
            <a:ext cx="339242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38" y="5715000"/>
            <a:ext cx="34564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OGS MTBF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38" y="6007608"/>
            <a:ext cx="34564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8470"/>
                </a:solidFill>
                <a:latin typeface="Calibri"/>
              </a:rPr>
              <a:t>From ISS operational data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4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2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8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6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4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6" presetID="10" presetClass="entr" presetSubtype="0" fill="hold" grpId="8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/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600"/>
                                              <p:tgtEl>
                                                <p:spTgt spid="5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INTELLIGENCE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AI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Natural Language Interface  |  Local LLM First  |  Cloud Fallback  |  Context-Aware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664208"/>
            <a:ext cx="5486400" cy="4956048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664208"/>
            <a:ext cx="548640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739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LIVE INTERFACE  —  SIMULATED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555"/>
                </a:solidFill>
                <a:latin typeface="Calibri"/>
              </a:rPr>
              <a:t>MISSION SPECIALIST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304288"/>
            <a:ext cx="5138928" cy="521208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377440"/>
            <a:ext cx="4919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BA372"/>
                </a:solidFill>
                <a:latin typeface="Calibri"/>
              </a:rPr>
              <a:t>What is the CO2 scrubber status in Columbus?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53512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555"/>
                </a:solidFill>
                <a:latin typeface="Calibri"/>
              </a:rPr>
              <a:t>AURA  /  mistral-7b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154680"/>
            <a:ext cx="5138928" cy="923544"/>
          </a:xfrm>
          <a:prstGeom prst="rect">
            <a:avLst/>
          </a:prstGeom>
          <a:solidFill>
            <a:srgbClr val="1E1E1E"/>
          </a:solidFill>
          <a:ln w="63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3227832"/>
            <a:ext cx="491947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8CC"/>
                </a:solidFill>
                <a:latin typeface="Calibri"/>
              </a:rPr>
              <a:t>Columbus CO2 scrubber: NOMINAL. CO2 partial pressure at 4.2 mmHg (limit 5.3 mmHg). RF confidence: 0.04 — no anomaly detected. Trend: stable across last 60 readings. Action: None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06240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555"/>
                </a:solidFill>
                <a:latin typeface="Calibri"/>
              </a:rPr>
              <a:t>MISSION SPECIALIST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07408"/>
            <a:ext cx="5138928" cy="521208"/>
          </a:xfrm>
          <a:prstGeom prst="rect">
            <a:avLst/>
          </a:prstGeom>
          <a:solidFill>
            <a:srgbClr val="201E11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4480560"/>
            <a:ext cx="4919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BA372"/>
                </a:solidFill>
                <a:latin typeface="Calibri"/>
              </a:rPr>
              <a:t>Run fault injection — Cabin Leak on Node 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56632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555"/>
                </a:solidFill>
                <a:latin typeface="Calibri"/>
              </a:rPr>
              <a:t>AURA  /  mistral-7b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257800"/>
            <a:ext cx="5138928" cy="923544"/>
          </a:xfrm>
          <a:prstGeom prst="rect">
            <a:avLst/>
          </a:prstGeom>
          <a:solidFill>
            <a:srgbClr val="1E1E1E"/>
          </a:solidFill>
          <a:ln w="63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330952"/>
            <a:ext cx="491947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8CC"/>
                </a:solidFill>
                <a:latin typeface="Calibri"/>
              </a:rPr>
              <a:t>WARNING — Injecting Cabin Leak at Node 2. IF flagging anomalous. RF confidence climbing: 0.73 then 0.89. CRITICAL alert fired. LSTM RUL: 4.2 h. DQN: Activate emergency pressure equalization.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64208"/>
            <a:ext cx="5641848" cy="1106424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64208"/>
            <a:ext cx="5641848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755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Local-First  —  Ollama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103120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mistral and llama3 run entirely on-premise. No data leaves the station. Groq API as a high-speed cloud fallback with automatic switching.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2889504"/>
            <a:ext cx="5641848" cy="1106424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2889504"/>
            <a:ext cx="5641848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Context-Aware Responses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328416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LLM receives live sensor readings, alert history, trend analysis, and fault probabilities as structured context on every query.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4114800"/>
            <a:ext cx="5641848" cy="1106424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4114800"/>
            <a:ext cx="5641848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206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Multi-Model Fallback 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553712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Ollama (mistral) &gt; Ollama (llama3) &gt; Groq API &gt; Graceful degradation with a clear error state and status indicator.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4768" y="5340096"/>
            <a:ext cx="5641848" cy="1106424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5340096"/>
            <a:ext cx="5641848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5431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Rendered Chat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5779008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Markdown and syntax-highlighted responses. Persistent conversation history within session. Mission-control aesthetic.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Real-Time Data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1 Tick / Second  |  7 Modules  |  Detection to Remediation in Milliseconds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965960"/>
            <a:ext cx="2377440" cy="155448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965960"/>
            <a:ext cx="237744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0574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SENSOR SIMULATOR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368296"/>
            <a:ext cx="210312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459736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Correlated Gaussian noise
Circadian O2/CO2 rhythms
Fault drift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965960"/>
            <a:ext cx="2377440" cy="155448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1965960"/>
            <a:ext cx="237744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20574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DATA 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0672" y="2368296"/>
            <a:ext cx="210312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2459736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1 tick/sec x 7 modules
20 parameters per reading
JSON blob serialization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1965960"/>
            <a:ext cx="2377440" cy="155448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04688" y="1965960"/>
            <a:ext cx="237744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20574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SQLITE WAL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368296"/>
            <a:ext cx="210312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2459736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generated_data table
anomaly_labels table
~25 k rows per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D4933"/>
                </a:solidFill>
                <a:latin typeface="Calibri"/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1965960"/>
            <a:ext cx="2377440" cy="155448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1965960"/>
            <a:ext cx="2377440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20574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A372"/>
                </a:solidFill>
                <a:latin typeface="Calibri"/>
              </a:rPr>
              <a:t>ML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2368296"/>
            <a:ext cx="210312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459736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IF &gt; RF &gt; LSTM
DQN recommendations
Alert fire + latch logic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72016" y="3520440"/>
            <a:ext cx="12801" cy="64008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93408" y="3520440"/>
            <a:ext cx="12801" cy="64008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0" y="4297680"/>
            <a:ext cx="2286000" cy="1234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03520" y="4297680"/>
            <a:ext cx="2286000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8112" y="438912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BA372"/>
                </a:solidFill>
                <a:latin typeface="Calibri"/>
              </a:rPr>
              <a:t>WEBSOCKET  /ws/live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68112" y="4700016"/>
            <a:ext cx="20116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4791456"/>
            <a:ext cx="2084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Push live alerts + status
to all connected clients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4297680"/>
            <a:ext cx="2286000" cy="1234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34640" y="4297680"/>
            <a:ext cx="2286000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438912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BA372"/>
                </a:solidFill>
                <a:latin typeface="Calibri"/>
              </a:rPr>
              <a:t>FRONTEND 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99232" y="4700016"/>
            <a:ext cx="20116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9232" y="4791456"/>
            <a:ext cx="2084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8 views  |  3D Twin  |  Charts
AI Chat  |  Alerts  |  Settings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297680"/>
            <a:ext cx="2286000" cy="123444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4297680"/>
            <a:ext cx="2286000" cy="4389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28432" y="438912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BA372"/>
                </a:solidFill>
                <a:latin typeface="Calibri"/>
              </a:rPr>
              <a:t>ALERT 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28432" y="4700016"/>
            <a:ext cx="20116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8432" y="4791456"/>
            <a:ext cx="2084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Severity  |  Fault type
Acknowledge workflow  |  Audit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10512" y="395020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REST 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4059936"/>
            <a:ext cx="1554480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1887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4933"/>
                </a:solidFill>
                <a:latin typeface="Calibri"/>
              </a:rPr>
              <a:t>AURA  —  CONTROL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"/>
            <a:ext cx="9144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9-Tab Admin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BA372"/>
                </a:solidFill>
                <a:latin typeface="Calibri"/>
              </a:rPr>
              <a:t>Password Protected  |  JWT Sessions  |  Full Operational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55680" cy="1280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6916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916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7830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1488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2585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Clear sensor data  |  Clear alerts
Export to CSV  |  LSTM buffer reset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5" y="16916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5" y="16916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7" y="17830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17830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21488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22585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Min consecutive: 10  |  Cooldown: 600 s
RF gate: 0.85  |  Latch: 0.95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8" y="16916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58" y="16916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0" y="17830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2" y="17830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02750" y="21488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22585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Tick interval control  |  Noise scale
Crew activity freq  |  Fault toggle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2918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32918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33832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3832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FAULTS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37490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38587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View active faults  |  Inject new fault
Per-location clear  |  Bulk clear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5" y="32918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42815" y="32918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7" y="33832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79" y="33832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ML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7407" y="37490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7" y="38587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IF / RF / LSTM / DQN status
Model reload  |  Training trigger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2918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8" y="32918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0" y="33832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0222" y="33832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TRENDS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02750" y="37490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0" y="38587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Mann-Kendall sensitivity
CUSUM thresholds  |  Z-score limits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48920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" y="48920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49834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49834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" y="53492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" y="54589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Groq API key  |  Connection test
Model selection  |  Fallback config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42815" y="48920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42815" y="48920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07407" y="49834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79" y="49834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DISPLAY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7" y="53492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07407" y="54589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Mission start date  |  Refresh intervals
Chart defaults  |  UI preferences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58" y="4892040"/>
            <a:ext cx="3712463" cy="1417320"/>
          </a:xfrm>
          <a:prstGeom prst="rect">
            <a:avLst/>
          </a:prstGeom>
          <a:solidFill>
            <a:srgbClr val="171717"/>
          </a:solidFill>
          <a:ln w="9525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58" y="4892040"/>
            <a:ext cx="3712463" cy="43891"/>
          </a:xfrm>
          <a:prstGeom prst="rect">
            <a:avLst/>
          </a:prstGeom>
          <a:solidFill>
            <a:srgbClr val="ABA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02750" y="49834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4933"/>
                </a:solidFill>
                <a:latin typeface="Calibri"/>
              </a:rP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50222" y="498348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02750" y="5349240"/>
            <a:ext cx="3438143" cy="12801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02750" y="5458968"/>
            <a:ext cx="34564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8470"/>
                </a:solidFill>
                <a:latin typeface="Calibri"/>
              </a:rPr>
              <a:t>Password change  |  Session revocation
JWT management  |  bcrypt hashing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" presetID="10" presetClass="entr" presetSubtype="0" fill="hold" grpId="1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6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grpId="2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6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grpId="3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/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6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" presetID="10" presetClass="entr" presetSubtype="0" fill="hold" grpId="4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6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grpId="5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/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6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grpId="6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/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60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grpId="7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/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60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6" presetID="10" presetClass="entr" presetSubtype="0" fill="hold" grpId="8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/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600"/>
                                              <p:tgtEl>
                                                <p:spTgt spid="5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41148" cy="6858000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051560"/>
            <a:ext cx="4754880" cy="4754880"/>
          </a:xfrm>
          <a:prstGeom prst="ellipse">
            <a:avLst/>
          </a:prstGeom>
          <a:solidFill>
            <a:srgbClr val="0B0B0B"/>
          </a:solidFill>
          <a:ln w="635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00200"/>
            <a:ext cx="3657600" cy="3657600"/>
          </a:xfrm>
          <a:prstGeom prst="ellipse">
            <a:avLst/>
          </a:prstGeom>
          <a:solidFill>
            <a:srgbClr val="0B0B0B"/>
          </a:solidFill>
          <a:ln w="508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2103120"/>
            <a:ext cx="2651760" cy="2651760"/>
          </a:xfrm>
          <a:prstGeom prst="ellipse">
            <a:avLst/>
          </a:prstGeom>
          <a:solidFill>
            <a:srgbClr val="0B0B0B"/>
          </a:solidFill>
          <a:ln w="7620">
            <a:solidFill>
              <a:srgbClr val="4D4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3080" y="2560320"/>
            <a:ext cx="1737360" cy="1737360"/>
          </a:xfrm>
          <a:prstGeom prst="ellipse">
            <a:avLst/>
          </a:prstGeom>
          <a:solidFill>
            <a:srgbClr val="201E11"/>
          </a:solidFill>
          <a:ln w="19050">
            <a:solidFill>
              <a:srgbClr val="ABA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081528"/>
            <a:ext cx="1645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C87A"/>
                </a:solidFill>
                <a:latin typeface="Calibri"/>
              </a:rPr>
              <a:t>NOMINAL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D4933"/>
                </a:solidFill>
                <a:latin typeface="Calibri"/>
              </a:rPr>
              <a:t>ALL SYSTEMS</a:t>
            </a:r>
          </a:p>
        </p:txBody>
      </p:sp>
      <p:pic>
        <p:nvPicPr>
          <p:cNvPr id="13" name="Picture 12" descr="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36576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29260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D4C87A"/>
                </a:solidFill>
                <a:latin typeface="Calibri"/>
              </a:rPr>
              <a:t>AURA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703320"/>
            <a:ext cx="4572000" cy="20116"/>
          </a:xfrm>
          <a:prstGeom prst="rect">
            <a:avLst/>
          </a:prstGeom>
          <a:solidFill>
            <a:srgbClr val="4D4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79476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D4933"/>
                </a:solidFill>
                <a:latin typeface="Calibri"/>
              </a:rPr>
              <a:t>Automated Urbanized Representation of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06908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555"/>
                </a:solidFill>
                <a:latin typeface="Calibri"/>
              </a:rPr>
              <a:t>ISS ECLSS Predictive Maintenance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7548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A372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7548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A372"/>
                </a:solidFill>
                <a:latin typeface="Calibr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548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A372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ML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7548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A372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Faults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7548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A372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47548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BA372"/>
                </a:solidFill>
                <a:latin typeface="Calibri"/>
              </a:rPr>
              <a:t>inf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555"/>
                </a:solidFill>
                <a:latin typeface="Calibri"/>
              </a:rPr>
              <a:t>Uptime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8064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555"/>
                </a:solidFill>
                <a:latin typeface="Calibri"/>
              </a:rPr>
              <a:t>Keeping Astronauts Safe  |  One Prediction at a Time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6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